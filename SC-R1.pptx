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82" r:id="rId3"/>
    <p:sldId id="283" r:id="rId4"/>
    <p:sldId id="259" r:id="rId5"/>
    <p:sldId id="279" r:id="rId6"/>
    <p:sldId id="280" r:id="rId7"/>
    <p:sldId id="281" r:id="rId8"/>
    <p:sldId id="260" r:id="rId9"/>
    <p:sldId id="261" r:id="rId10"/>
    <p:sldId id="262" r:id="rId11"/>
    <p:sldId id="263" r:id="rId12"/>
    <p:sldId id="264" r:id="rId13"/>
    <p:sldId id="284" r:id="rId14"/>
    <p:sldId id="266" r:id="rId15"/>
    <p:sldId id="274" r:id="rId16"/>
    <p:sldId id="285" r:id="rId17"/>
    <p:sldId id="286" r:id="rId18"/>
    <p:sldId id="287" r:id="rId19"/>
    <p:sldId id="288" r:id="rId20"/>
    <p:sldId id="289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45F6E7-8CBB-4468-BEB3-746EBDC0882A}" v="132" dt="2025-03-03T08:47:10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0" autoAdjust="0"/>
    <p:restoredTop sz="94660"/>
  </p:normalViewPr>
  <p:slideViewPr>
    <p:cSldViewPr snapToGrid="0">
      <p:cViewPr>
        <p:scale>
          <a:sx n="33" d="100"/>
          <a:sy n="33" d="100"/>
        </p:scale>
        <p:origin x="1760" y="9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 Charan T" userId="b3fcd74edc5b4339" providerId="LiveId" clId="{F745F6E7-8CBB-4468-BEB3-746EBDC0882A}"/>
    <pc:docChg chg="undo custSel addSld delSld modSld sldOrd">
      <pc:chgData name="Hima Charan T" userId="b3fcd74edc5b4339" providerId="LiveId" clId="{F745F6E7-8CBB-4468-BEB3-746EBDC0882A}" dt="2025-03-03T08:47:10.681" v="1183"/>
      <pc:docMkLst>
        <pc:docMk/>
      </pc:docMkLst>
      <pc:sldChg chg="addSp delSp modSp mod">
        <pc:chgData name="Hima Charan T" userId="b3fcd74edc5b4339" providerId="LiveId" clId="{F745F6E7-8CBB-4468-BEB3-746EBDC0882A}" dt="2025-02-27T07:14:15.569" v="384" actId="27636"/>
        <pc:sldMkLst>
          <pc:docMk/>
          <pc:sldMk cId="3686491879" sldId="256"/>
        </pc:sldMkLst>
        <pc:spChg chg="mod">
          <ac:chgData name="Hima Charan T" userId="b3fcd74edc5b4339" providerId="LiveId" clId="{F745F6E7-8CBB-4468-BEB3-746EBDC0882A}" dt="2025-02-26T15:53:36.101" v="245" actId="20577"/>
          <ac:spMkLst>
            <pc:docMk/>
            <pc:sldMk cId="3686491879" sldId="256"/>
            <ac:spMk id="2" creationId="{00000000-0000-0000-0000-000000000000}"/>
          </ac:spMkLst>
        </pc:spChg>
        <pc:spChg chg="add del mod">
          <ac:chgData name="Hima Charan T" userId="b3fcd74edc5b4339" providerId="LiveId" clId="{F745F6E7-8CBB-4468-BEB3-746EBDC0882A}" dt="2025-02-27T07:14:15.569" v="384" actId="27636"/>
          <ac:spMkLst>
            <pc:docMk/>
            <pc:sldMk cId="3686491879" sldId="256"/>
            <ac:spMk id="8" creationId="{3B2FFD62-D6B5-DB2A-B16E-2AAB584D56B8}"/>
          </ac:spMkLst>
        </pc:spChg>
      </pc:sldChg>
      <pc:sldChg chg="modSp del mod">
        <pc:chgData name="Hima Charan T" userId="b3fcd74edc5b4339" providerId="LiveId" clId="{F745F6E7-8CBB-4468-BEB3-746EBDC0882A}" dt="2025-02-26T17:05:46.403" v="248" actId="47"/>
        <pc:sldMkLst>
          <pc:docMk/>
          <pc:sldMk cId="4121434507" sldId="257"/>
        </pc:sldMkLst>
      </pc:sldChg>
      <pc:sldChg chg="del">
        <pc:chgData name="Hima Charan T" userId="b3fcd74edc5b4339" providerId="LiveId" clId="{F745F6E7-8CBB-4468-BEB3-746EBDC0882A}" dt="2025-02-27T06:02:20.183" v="297" actId="47"/>
        <pc:sldMkLst>
          <pc:docMk/>
          <pc:sldMk cId="1253727000" sldId="258"/>
        </pc:sldMkLst>
      </pc:sldChg>
      <pc:sldChg chg="addSp delSp modSp mod">
        <pc:chgData name="Hima Charan T" userId="b3fcd74edc5b4339" providerId="LiveId" clId="{F745F6E7-8CBB-4468-BEB3-746EBDC0882A}" dt="2025-03-03T08:47:10.681" v="1183"/>
        <pc:sldMkLst>
          <pc:docMk/>
          <pc:sldMk cId="3409023395" sldId="259"/>
        </pc:sldMkLst>
        <pc:spChg chg="mod">
          <ac:chgData name="Hima Charan T" userId="b3fcd74edc5b4339" providerId="LiveId" clId="{F745F6E7-8CBB-4468-BEB3-746EBDC0882A}" dt="2025-02-27T07:14:15.490" v="383"/>
          <ac:spMkLst>
            <pc:docMk/>
            <pc:sldMk cId="3409023395" sldId="259"/>
            <ac:spMk id="3" creationId="{00000000-0000-0000-0000-000000000000}"/>
          </ac:spMkLst>
        </pc:spChg>
        <pc:graphicFrameChg chg="add del mod modGraphic">
          <ac:chgData name="Hima Charan T" userId="b3fcd74edc5b4339" providerId="LiveId" clId="{F745F6E7-8CBB-4468-BEB3-746EBDC0882A}" dt="2025-03-03T08:47:10.681" v="1183"/>
          <ac:graphicFrameMkLst>
            <pc:docMk/>
            <pc:sldMk cId="3409023395" sldId="259"/>
            <ac:graphicFrameMk id="4" creationId="{00000000-0000-0000-0000-000000000000}"/>
          </ac:graphicFrameMkLst>
        </pc:graphicFrameChg>
      </pc:sldChg>
      <pc:sldChg chg="modSp add mod">
        <pc:chgData name="Hima Charan T" userId="b3fcd74edc5b4339" providerId="LiveId" clId="{F745F6E7-8CBB-4468-BEB3-746EBDC0882A}" dt="2025-02-27T09:31:42.372" v="409" actId="1036"/>
        <pc:sldMkLst>
          <pc:docMk/>
          <pc:sldMk cId="0" sldId="260"/>
        </pc:sldMkLst>
        <pc:spChg chg="mod">
          <ac:chgData name="Hima Charan T" userId="b3fcd74edc5b4339" providerId="LiveId" clId="{F745F6E7-8CBB-4468-BEB3-746EBDC0882A}" dt="2025-02-27T09:31:42.372" v="409" actId="1036"/>
          <ac:spMkLst>
            <pc:docMk/>
            <pc:sldMk cId="0" sldId="260"/>
            <ac:spMk id="92" creationId="{00000000-0000-0000-0000-000000000000}"/>
          </ac:spMkLst>
        </pc:spChg>
        <pc:spChg chg="mod">
          <ac:chgData name="Hima Charan T" userId="b3fcd74edc5b4339" providerId="LiveId" clId="{F745F6E7-8CBB-4468-BEB3-746EBDC0882A}" dt="2025-02-27T09:30:51.334" v="407"/>
          <ac:spMkLst>
            <pc:docMk/>
            <pc:sldMk cId="0" sldId="260"/>
            <ac:spMk id="93" creationId="{00000000-0000-0000-0000-000000000000}"/>
          </ac:spMkLst>
        </pc:spChg>
      </pc:sldChg>
      <pc:sldChg chg="del">
        <pc:chgData name="Hima Charan T" userId="b3fcd74edc5b4339" providerId="LiveId" clId="{F745F6E7-8CBB-4468-BEB3-746EBDC0882A}" dt="2025-02-25T16:55:17.289" v="133" actId="47"/>
        <pc:sldMkLst>
          <pc:docMk/>
          <pc:sldMk cId="1672256662" sldId="260"/>
        </pc:sldMkLst>
      </pc:sldChg>
      <pc:sldChg chg="modSp add mod">
        <pc:chgData name="Hima Charan T" userId="b3fcd74edc5b4339" providerId="LiveId" clId="{F745F6E7-8CBB-4468-BEB3-746EBDC0882A}" dt="2025-02-27T09:39:32.330" v="427" actId="20577"/>
        <pc:sldMkLst>
          <pc:docMk/>
          <pc:sldMk cId="0" sldId="261"/>
        </pc:sldMkLst>
        <pc:spChg chg="mod">
          <ac:chgData name="Hima Charan T" userId="b3fcd74edc5b4339" providerId="LiveId" clId="{F745F6E7-8CBB-4468-BEB3-746EBDC0882A}" dt="2025-02-27T09:39:32.330" v="427" actId="20577"/>
          <ac:spMkLst>
            <pc:docMk/>
            <pc:sldMk cId="0" sldId="261"/>
            <ac:spMk id="95" creationId="{00000000-0000-0000-0000-000000000000}"/>
          </ac:spMkLst>
        </pc:spChg>
      </pc:sldChg>
      <pc:sldChg chg="add">
        <pc:chgData name="Hima Charan T" userId="b3fcd74edc5b4339" providerId="LiveId" clId="{F745F6E7-8CBB-4468-BEB3-746EBDC0882A}" dt="2025-02-27T06:03:04.899" v="308"/>
        <pc:sldMkLst>
          <pc:docMk/>
          <pc:sldMk cId="0" sldId="262"/>
        </pc:sldMkLst>
      </pc:sldChg>
      <pc:sldChg chg="add">
        <pc:chgData name="Hima Charan T" userId="b3fcd74edc5b4339" providerId="LiveId" clId="{F745F6E7-8CBB-4468-BEB3-746EBDC0882A}" dt="2025-02-27T06:03:12.531" v="309"/>
        <pc:sldMkLst>
          <pc:docMk/>
          <pc:sldMk cId="0" sldId="263"/>
        </pc:sldMkLst>
      </pc:sldChg>
      <pc:sldChg chg="modSp add mod">
        <pc:chgData name="Hima Charan T" userId="b3fcd74edc5b4339" providerId="LiveId" clId="{F745F6E7-8CBB-4468-BEB3-746EBDC0882A}" dt="2025-02-27T09:36:14.511" v="413" actId="27636"/>
        <pc:sldMkLst>
          <pc:docMk/>
          <pc:sldMk cId="0" sldId="264"/>
        </pc:sldMkLst>
        <pc:spChg chg="mod">
          <ac:chgData name="Hima Charan T" userId="b3fcd74edc5b4339" providerId="LiveId" clId="{F745F6E7-8CBB-4468-BEB3-746EBDC0882A}" dt="2025-02-27T09:36:14.511" v="413" actId="27636"/>
          <ac:spMkLst>
            <pc:docMk/>
            <pc:sldMk cId="0" sldId="264"/>
            <ac:spMk id="102" creationId="{00000000-0000-0000-0000-000000000000}"/>
          </ac:spMkLst>
        </pc:spChg>
      </pc:sldChg>
      <pc:sldChg chg="addSp delSp add del mod">
        <pc:chgData name="Hima Charan T" userId="b3fcd74edc5b4339" providerId="LiveId" clId="{F745F6E7-8CBB-4468-BEB3-746EBDC0882A}" dt="2025-02-27T07:10:47.531" v="337" actId="47"/>
        <pc:sldMkLst>
          <pc:docMk/>
          <pc:sldMk cId="3089537731" sldId="265"/>
        </pc:sldMkLst>
      </pc:sldChg>
      <pc:sldChg chg="add">
        <pc:chgData name="Hima Charan T" userId="b3fcd74edc5b4339" providerId="LiveId" clId="{F745F6E7-8CBB-4468-BEB3-746EBDC0882A}" dt="2025-02-27T06:03:31.329" v="314"/>
        <pc:sldMkLst>
          <pc:docMk/>
          <pc:sldMk cId="0" sldId="266"/>
        </pc:sldMkLst>
      </pc:sldChg>
      <pc:sldChg chg="del">
        <pc:chgData name="Hima Charan T" userId="b3fcd74edc5b4339" providerId="LiveId" clId="{F745F6E7-8CBB-4468-BEB3-746EBDC0882A}" dt="2025-02-27T06:02:22.421" v="298" actId="47"/>
        <pc:sldMkLst>
          <pc:docMk/>
          <pc:sldMk cId="3887338352" sldId="267"/>
        </pc:sldMkLst>
      </pc:sldChg>
      <pc:sldChg chg="del">
        <pc:chgData name="Hima Charan T" userId="b3fcd74edc5b4339" providerId="LiveId" clId="{F745F6E7-8CBB-4468-BEB3-746EBDC0882A}" dt="2025-02-27T06:02:23.960" v="299" actId="47"/>
        <pc:sldMkLst>
          <pc:docMk/>
          <pc:sldMk cId="945289667" sldId="269"/>
        </pc:sldMkLst>
      </pc:sldChg>
      <pc:sldChg chg="del">
        <pc:chgData name="Hima Charan T" userId="b3fcd74edc5b4339" providerId="LiveId" clId="{F745F6E7-8CBB-4468-BEB3-746EBDC0882A}" dt="2025-02-27T06:02:25.777" v="300" actId="47"/>
        <pc:sldMkLst>
          <pc:docMk/>
          <pc:sldMk cId="1932028334" sldId="270"/>
        </pc:sldMkLst>
      </pc:sldChg>
      <pc:sldChg chg="del">
        <pc:chgData name="Hima Charan T" userId="b3fcd74edc5b4339" providerId="LiveId" clId="{F745F6E7-8CBB-4468-BEB3-746EBDC0882A}" dt="2025-02-27T06:02:27.808" v="301" actId="47"/>
        <pc:sldMkLst>
          <pc:docMk/>
          <pc:sldMk cId="2267821746" sldId="271"/>
        </pc:sldMkLst>
      </pc:sldChg>
      <pc:sldChg chg="del">
        <pc:chgData name="Hima Charan T" userId="b3fcd74edc5b4339" providerId="LiveId" clId="{F745F6E7-8CBB-4468-BEB3-746EBDC0882A}" dt="2025-02-27T06:02:31.163" v="303" actId="47"/>
        <pc:sldMkLst>
          <pc:docMk/>
          <pc:sldMk cId="4042547404" sldId="272"/>
        </pc:sldMkLst>
      </pc:sldChg>
      <pc:sldChg chg="del">
        <pc:chgData name="Hima Charan T" userId="b3fcd74edc5b4339" providerId="LiveId" clId="{F745F6E7-8CBB-4468-BEB3-746EBDC0882A}" dt="2025-02-27T06:02:29.659" v="302" actId="47"/>
        <pc:sldMkLst>
          <pc:docMk/>
          <pc:sldMk cId="869495196" sldId="273"/>
        </pc:sldMkLst>
      </pc:sldChg>
      <pc:sldChg chg="addSp modSp add del mod ord">
        <pc:chgData name="Hima Charan T" userId="b3fcd74edc5b4339" providerId="LiveId" clId="{F745F6E7-8CBB-4468-BEB3-746EBDC0882A}" dt="2025-03-03T05:35:21.988" v="937" actId="20577"/>
        <pc:sldMkLst>
          <pc:docMk/>
          <pc:sldMk cId="2536243031" sldId="274"/>
        </pc:sldMkLst>
        <pc:spChg chg="mod">
          <ac:chgData name="Hima Charan T" userId="b3fcd74edc5b4339" providerId="LiveId" clId="{F745F6E7-8CBB-4468-BEB3-746EBDC0882A}" dt="2025-03-03T05:35:12.732" v="936" actId="20577"/>
          <ac:spMkLst>
            <pc:docMk/>
            <pc:sldMk cId="2536243031" sldId="274"/>
            <ac:spMk id="2" creationId="{00000000-0000-0000-0000-000000000000}"/>
          </ac:spMkLst>
        </pc:spChg>
        <pc:spChg chg="mod">
          <ac:chgData name="Hima Charan T" userId="b3fcd74edc5b4339" providerId="LiveId" clId="{F745F6E7-8CBB-4468-BEB3-746EBDC0882A}" dt="2025-03-03T05:35:21.988" v="937" actId="20577"/>
          <ac:spMkLst>
            <pc:docMk/>
            <pc:sldMk cId="2536243031" sldId="274"/>
            <ac:spMk id="7" creationId="{14B633B2-5B3A-7CB0-6C90-C0B86A4D0579}"/>
          </ac:spMkLst>
        </pc:spChg>
        <pc:graphicFrameChg chg="add mod">
          <ac:chgData name="Hima Charan T" userId="b3fcd74edc5b4339" providerId="LiveId" clId="{F745F6E7-8CBB-4468-BEB3-746EBDC0882A}" dt="2025-03-03T05:30:18.417" v="914"/>
          <ac:graphicFrameMkLst>
            <pc:docMk/>
            <pc:sldMk cId="2536243031" sldId="274"/>
            <ac:graphicFrameMk id="3" creationId="{A7A69C52-060C-C3F3-D8B5-B449F3DB1568}"/>
          </ac:graphicFrameMkLst>
        </pc:graphicFrameChg>
        <pc:graphicFrameChg chg="add mod">
          <ac:chgData name="Hima Charan T" userId="b3fcd74edc5b4339" providerId="LiveId" clId="{F745F6E7-8CBB-4468-BEB3-746EBDC0882A}" dt="2025-03-03T05:30:18.417" v="914"/>
          <ac:graphicFrameMkLst>
            <pc:docMk/>
            <pc:sldMk cId="2536243031" sldId="274"/>
            <ac:graphicFrameMk id="4" creationId="{D4607333-9A1C-380C-3780-F6E107D509FE}"/>
          </ac:graphicFrameMkLst>
        </pc:graphicFrameChg>
        <pc:graphicFrameChg chg="add mod">
          <ac:chgData name="Hima Charan T" userId="b3fcd74edc5b4339" providerId="LiveId" clId="{F745F6E7-8CBB-4468-BEB3-746EBDC0882A}" dt="2025-03-03T05:30:18.417" v="914"/>
          <ac:graphicFrameMkLst>
            <pc:docMk/>
            <pc:sldMk cId="2536243031" sldId="274"/>
            <ac:graphicFrameMk id="5" creationId="{CBD6678A-E2B2-C6AE-8FB1-F0585DBFB7E8}"/>
          </ac:graphicFrameMkLst>
        </pc:graphicFrameChg>
        <pc:graphicFrameChg chg="add mod">
          <ac:chgData name="Hima Charan T" userId="b3fcd74edc5b4339" providerId="LiveId" clId="{F745F6E7-8CBB-4468-BEB3-746EBDC0882A}" dt="2025-03-03T05:30:18.417" v="914"/>
          <ac:graphicFrameMkLst>
            <pc:docMk/>
            <pc:sldMk cId="2536243031" sldId="274"/>
            <ac:graphicFrameMk id="6" creationId="{12597706-F31D-2402-BA48-CD7BE7C0A290}"/>
          </ac:graphicFrameMkLst>
        </pc:graphicFrameChg>
        <pc:graphicFrameChg chg="add mod">
          <ac:chgData name="Hima Charan T" userId="b3fcd74edc5b4339" providerId="LiveId" clId="{F745F6E7-8CBB-4468-BEB3-746EBDC0882A}" dt="2025-03-03T05:30:18.417" v="914"/>
          <ac:graphicFrameMkLst>
            <pc:docMk/>
            <pc:sldMk cId="2536243031" sldId="274"/>
            <ac:graphicFrameMk id="8" creationId="{1D847E25-2AD7-65CA-13CD-5388F9F4C734}"/>
          </ac:graphicFrameMkLst>
        </pc:graphicFrameChg>
        <pc:graphicFrameChg chg="add mod">
          <ac:chgData name="Hima Charan T" userId="b3fcd74edc5b4339" providerId="LiveId" clId="{F745F6E7-8CBB-4468-BEB3-746EBDC0882A}" dt="2025-03-03T05:30:25.800" v="915"/>
          <ac:graphicFrameMkLst>
            <pc:docMk/>
            <pc:sldMk cId="2536243031" sldId="274"/>
            <ac:graphicFrameMk id="9" creationId="{D473312E-8C22-6CF8-077A-03070BDCBF38}"/>
          </ac:graphicFrameMkLst>
        </pc:graphicFrameChg>
        <pc:graphicFrameChg chg="add mod">
          <ac:chgData name="Hima Charan T" userId="b3fcd74edc5b4339" providerId="LiveId" clId="{F745F6E7-8CBB-4468-BEB3-746EBDC0882A}" dt="2025-03-03T05:30:25.800" v="915"/>
          <ac:graphicFrameMkLst>
            <pc:docMk/>
            <pc:sldMk cId="2536243031" sldId="274"/>
            <ac:graphicFrameMk id="10" creationId="{5C6D0E5C-6957-C6F3-435E-C54E47168FE1}"/>
          </ac:graphicFrameMkLst>
        </pc:graphicFrameChg>
        <pc:graphicFrameChg chg="add mod">
          <ac:chgData name="Hima Charan T" userId="b3fcd74edc5b4339" providerId="LiveId" clId="{F745F6E7-8CBB-4468-BEB3-746EBDC0882A}" dt="2025-03-03T05:30:25.800" v="915"/>
          <ac:graphicFrameMkLst>
            <pc:docMk/>
            <pc:sldMk cId="2536243031" sldId="274"/>
            <ac:graphicFrameMk id="11" creationId="{DE25A9E6-51D2-5A20-F3AE-D7AC633B631F}"/>
          </ac:graphicFrameMkLst>
        </pc:graphicFrameChg>
        <pc:graphicFrameChg chg="add mod">
          <ac:chgData name="Hima Charan T" userId="b3fcd74edc5b4339" providerId="LiveId" clId="{F745F6E7-8CBB-4468-BEB3-746EBDC0882A}" dt="2025-03-03T05:30:25.800" v="915"/>
          <ac:graphicFrameMkLst>
            <pc:docMk/>
            <pc:sldMk cId="2536243031" sldId="274"/>
            <ac:graphicFrameMk id="12" creationId="{A4A60EF8-3B2C-FCD0-3FDD-F173668DB01E}"/>
          </ac:graphicFrameMkLst>
        </pc:graphicFrameChg>
        <pc:graphicFrameChg chg="add mod">
          <ac:chgData name="Hima Charan T" userId="b3fcd74edc5b4339" providerId="LiveId" clId="{F745F6E7-8CBB-4468-BEB3-746EBDC0882A}" dt="2025-03-03T05:30:25.800" v="915"/>
          <ac:graphicFrameMkLst>
            <pc:docMk/>
            <pc:sldMk cId="2536243031" sldId="274"/>
            <ac:graphicFrameMk id="13" creationId="{68756213-2A79-45FA-3AB6-E50834CD7E0B}"/>
          </ac:graphicFrameMkLst>
        </pc:graphicFrameChg>
      </pc:sldChg>
      <pc:sldChg chg="modSp del mod">
        <pc:chgData name="Hima Charan T" userId="b3fcd74edc5b4339" providerId="LiveId" clId="{F745F6E7-8CBB-4468-BEB3-746EBDC0882A}" dt="2025-02-26T17:05:47.568" v="249" actId="47"/>
        <pc:sldMkLst>
          <pc:docMk/>
          <pc:sldMk cId="139911322" sldId="278"/>
        </pc:sldMkLst>
      </pc:sldChg>
      <pc:sldChg chg="addSp delSp modSp mod ord">
        <pc:chgData name="Hima Charan T" userId="b3fcd74edc5b4339" providerId="LiveId" clId="{F745F6E7-8CBB-4468-BEB3-746EBDC0882A}" dt="2025-03-03T06:19:21.576" v="1078"/>
        <pc:sldMkLst>
          <pc:docMk/>
          <pc:sldMk cId="1616004886" sldId="279"/>
        </pc:sldMkLst>
        <pc:graphicFrameChg chg="add del modGraphic">
          <ac:chgData name="Hima Charan T" userId="b3fcd74edc5b4339" providerId="LiveId" clId="{F745F6E7-8CBB-4468-BEB3-746EBDC0882A}" dt="2025-03-03T06:17:41.728" v="1045" actId="27309"/>
          <ac:graphicFrameMkLst>
            <pc:docMk/>
            <pc:sldMk cId="1616004886" sldId="279"/>
            <ac:graphicFrameMk id="3" creationId="{E66DA27F-7E8E-430E-337B-EF9FE72C700B}"/>
          </ac:graphicFrameMkLst>
        </pc:graphicFrameChg>
        <pc:graphicFrameChg chg="mod modGraphic">
          <ac:chgData name="Hima Charan T" userId="b3fcd74edc5b4339" providerId="LiveId" clId="{F745F6E7-8CBB-4468-BEB3-746EBDC0882A}" dt="2025-03-03T06:19:21.576" v="1078"/>
          <ac:graphicFrameMkLst>
            <pc:docMk/>
            <pc:sldMk cId="1616004886" sldId="279"/>
            <ac:graphicFrameMk id="4" creationId="{00000000-0000-0000-0000-000000000000}"/>
          </ac:graphicFrameMkLst>
        </pc:graphicFrameChg>
      </pc:sldChg>
      <pc:sldChg chg="addSp delSp modSp mod">
        <pc:chgData name="Hima Charan T" userId="b3fcd74edc5b4339" providerId="LiveId" clId="{F745F6E7-8CBB-4468-BEB3-746EBDC0882A}" dt="2025-03-03T05:14:19.028" v="777"/>
        <pc:sldMkLst>
          <pc:docMk/>
          <pc:sldMk cId="2759773651" sldId="280"/>
        </pc:sldMkLst>
        <pc:spChg chg="mod">
          <ac:chgData name="Hima Charan T" userId="b3fcd74edc5b4339" providerId="LiveId" clId="{F745F6E7-8CBB-4468-BEB3-746EBDC0882A}" dt="2025-02-27T07:14:15.490" v="383"/>
          <ac:spMkLst>
            <pc:docMk/>
            <pc:sldMk cId="2759773651" sldId="280"/>
            <ac:spMk id="3" creationId="{00000000-0000-0000-0000-000000000000}"/>
          </ac:spMkLst>
        </pc:spChg>
        <pc:graphicFrameChg chg="mod modGraphic">
          <ac:chgData name="Hima Charan T" userId="b3fcd74edc5b4339" providerId="LiveId" clId="{F745F6E7-8CBB-4468-BEB3-746EBDC0882A}" dt="2025-03-03T05:14:19.028" v="777"/>
          <ac:graphicFrameMkLst>
            <pc:docMk/>
            <pc:sldMk cId="2759773651" sldId="280"/>
            <ac:graphicFrameMk id="4" creationId="{00000000-0000-0000-0000-000000000000}"/>
          </ac:graphicFrameMkLst>
        </pc:graphicFrameChg>
      </pc:sldChg>
      <pc:sldChg chg="addSp delSp modSp mod">
        <pc:chgData name="Hima Charan T" userId="b3fcd74edc5b4339" providerId="LiveId" clId="{F745F6E7-8CBB-4468-BEB3-746EBDC0882A}" dt="2025-03-03T05:17:25.549" v="906" actId="20577"/>
        <pc:sldMkLst>
          <pc:docMk/>
          <pc:sldMk cId="3182205559" sldId="281"/>
        </pc:sldMkLst>
        <pc:spChg chg="mod">
          <ac:chgData name="Hima Charan T" userId="b3fcd74edc5b4339" providerId="LiveId" clId="{F745F6E7-8CBB-4468-BEB3-746EBDC0882A}" dt="2025-02-27T07:14:15.490" v="383"/>
          <ac:spMkLst>
            <pc:docMk/>
            <pc:sldMk cId="3182205559" sldId="281"/>
            <ac:spMk id="3" creationId="{00000000-0000-0000-0000-000000000000}"/>
          </ac:spMkLst>
        </pc:spChg>
        <pc:graphicFrameChg chg="mod modGraphic">
          <ac:chgData name="Hima Charan T" userId="b3fcd74edc5b4339" providerId="LiveId" clId="{F745F6E7-8CBB-4468-BEB3-746EBDC0882A}" dt="2025-03-03T05:17:25.549" v="906" actId="20577"/>
          <ac:graphicFrameMkLst>
            <pc:docMk/>
            <pc:sldMk cId="3182205559" sldId="281"/>
            <ac:graphicFrameMk id="4" creationId="{00000000-0000-0000-0000-000000000000}"/>
          </ac:graphicFrameMkLst>
        </pc:graphicFrameChg>
      </pc:sldChg>
      <pc:sldChg chg="del">
        <pc:chgData name="Hima Charan T" userId="b3fcd74edc5b4339" providerId="LiveId" clId="{F745F6E7-8CBB-4468-BEB3-746EBDC0882A}" dt="2025-02-25T16:55:21.272" v="134" actId="47"/>
        <pc:sldMkLst>
          <pc:docMk/>
          <pc:sldMk cId="1585366912" sldId="282"/>
        </pc:sldMkLst>
      </pc:sldChg>
      <pc:sldChg chg="modSp add mod">
        <pc:chgData name="Hima Charan T" userId="b3fcd74edc5b4339" providerId="LiveId" clId="{F745F6E7-8CBB-4468-BEB3-746EBDC0882A}" dt="2025-03-03T08:38:43.262" v="1166"/>
        <pc:sldMkLst>
          <pc:docMk/>
          <pc:sldMk cId="4177593014" sldId="282"/>
        </pc:sldMkLst>
        <pc:graphicFrameChg chg="mod modGraphic">
          <ac:chgData name="Hima Charan T" userId="b3fcd74edc5b4339" providerId="LiveId" clId="{F745F6E7-8CBB-4468-BEB3-746EBDC0882A}" dt="2025-03-03T08:38:43.262" v="1166"/>
          <ac:graphicFrameMkLst>
            <pc:docMk/>
            <pc:sldMk cId="4177593014" sldId="282"/>
            <ac:graphicFrameMk id="4" creationId="{00000000-0000-0000-0000-000000000000}"/>
          </ac:graphicFrameMkLst>
        </pc:graphicFrameChg>
      </pc:sldChg>
      <pc:sldChg chg="modSp add mod">
        <pc:chgData name="Hima Charan T" userId="b3fcd74edc5b4339" providerId="LiveId" clId="{F745F6E7-8CBB-4468-BEB3-746EBDC0882A}" dt="2025-03-03T08:45:42.165" v="1181"/>
        <pc:sldMkLst>
          <pc:docMk/>
          <pc:sldMk cId="415840296" sldId="283"/>
        </pc:sldMkLst>
        <pc:graphicFrameChg chg="mod modGraphic">
          <ac:chgData name="Hima Charan T" userId="b3fcd74edc5b4339" providerId="LiveId" clId="{F745F6E7-8CBB-4468-BEB3-746EBDC0882A}" dt="2025-03-03T08:45:42.165" v="1181"/>
          <ac:graphicFrameMkLst>
            <pc:docMk/>
            <pc:sldMk cId="415840296" sldId="283"/>
            <ac:graphicFrameMk id="4" creationId="{00000000-0000-0000-0000-000000000000}"/>
          </ac:graphicFrameMkLst>
        </pc:graphicFrameChg>
      </pc:sldChg>
      <pc:sldChg chg="del">
        <pc:chgData name="Hima Charan T" userId="b3fcd74edc5b4339" providerId="LiveId" clId="{F745F6E7-8CBB-4468-BEB3-746EBDC0882A}" dt="2025-02-25T16:55:22.888" v="135" actId="47"/>
        <pc:sldMkLst>
          <pc:docMk/>
          <pc:sldMk cId="691658441" sldId="283"/>
        </pc:sldMkLst>
      </pc:sldChg>
      <pc:sldChg chg="add">
        <pc:chgData name="Hima Charan T" userId="b3fcd74edc5b4339" providerId="LiveId" clId="{F745F6E7-8CBB-4468-BEB3-746EBDC0882A}" dt="2025-02-27T06:03:25.941" v="312"/>
        <pc:sldMkLst>
          <pc:docMk/>
          <pc:sldMk cId="0" sldId="284"/>
        </pc:sldMkLst>
      </pc:sldChg>
      <pc:sldChg chg="add del">
        <pc:chgData name="Hima Charan T" userId="b3fcd74edc5b4339" providerId="LiveId" clId="{F745F6E7-8CBB-4468-BEB3-746EBDC0882A}" dt="2025-02-27T07:11:04.279" v="339"/>
        <pc:sldMkLst>
          <pc:docMk/>
          <pc:sldMk cId="665550045" sldId="285"/>
        </pc:sldMkLst>
      </pc:sldChg>
      <pc:sldChg chg="modSp add mod">
        <pc:chgData name="Hima Charan T" userId="b3fcd74edc5b4339" providerId="LiveId" clId="{F745F6E7-8CBB-4468-BEB3-746EBDC0882A}" dt="2025-03-03T05:40:50.764" v="957" actId="14100"/>
        <pc:sldMkLst>
          <pc:docMk/>
          <pc:sldMk cId="2292982026" sldId="285"/>
        </pc:sldMkLst>
        <pc:spChg chg="mod">
          <ac:chgData name="Hima Charan T" userId="b3fcd74edc5b4339" providerId="LiveId" clId="{F745F6E7-8CBB-4468-BEB3-746EBDC0882A}" dt="2025-03-03T05:40:50.764" v="957" actId="14100"/>
          <ac:spMkLst>
            <pc:docMk/>
            <pc:sldMk cId="2292982026" sldId="285"/>
            <ac:spMk id="3" creationId="{67ECA1C4-D0E0-477D-70F6-62DB6D691EA1}"/>
          </ac:spMkLst>
        </pc:spChg>
      </pc:sldChg>
      <pc:sldChg chg="modSp add mod">
        <pc:chgData name="Hima Charan T" userId="b3fcd74edc5b4339" providerId="LiveId" clId="{F745F6E7-8CBB-4468-BEB3-746EBDC0882A}" dt="2025-03-02T16:09:43.985" v="508" actId="27636"/>
        <pc:sldMkLst>
          <pc:docMk/>
          <pc:sldMk cId="1645127023" sldId="286"/>
        </pc:sldMkLst>
        <pc:spChg chg="mod">
          <ac:chgData name="Hima Charan T" userId="b3fcd74edc5b4339" providerId="LiveId" clId="{F745F6E7-8CBB-4468-BEB3-746EBDC0882A}" dt="2025-03-02T16:09:43.985" v="508" actId="27636"/>
          <ac:spMkLst>
            <pc:docMk/>
            <pc:sldMk cId="1645127023" sldId="286"/>
            <ac:spMk id="3" creationId="{2DD01A52-8A11-2C38-29C8-DB0DEF328B0B}"/>
          </ac:spMkLst>
        </pc:spChg>
      </pc:sldChg>
      <pc:sldChg chg="modSp add mod">
        <pc:chgData name="Hima Charan T" userId="b3fcd74edc5b4339" providerId="LiveId" clId="{F745F6E7-8CBB-4468-BEB3-746EBDC0882A}" dt="2025-03-02T16:13:34.502" v="522"/>
        <pc:sldMkLst>
          <pc:docMk/>
          <pc:sldMk cId="3815768457" sldId="287"/>
        </pc:sldMkLst>
        <pc:spChg chg="mod">
          <ac:chgData name="Hima Charan T" userId="b3fcd74edc5b4339" providerId="LiveId" clId="{F745F6E7-8CBB-4468-BEB3-746EBDC0882A}" dt="2025-03-02T16:13:34.502" v="522"/>
          <ac:spMkLst>
            <pc:docMk/>
            <pc:sldMk cId="3815768457" sldId="287"/>
            <ac:spMk id="3" creationId="{C120BB4A-5F82-13E4-7F55-3D56A5157EBF}"/>
          </ac:spMkLst>
        </pc:spChg>
      </pc:sldChg>
      <pc:sldChg chg="modSp add mod">
        <pc:chgData name="Hima Charan T" userId="b3fcd74edc5b4339" providerId="LiveId" clId="{F745F6E7-8CBB-4468-BEB3-746EBDC0882A}" dt="2025-03-02T17:07:32.530" v="620" actId="27636"/>
        <pc:sldMkLst>
          <pc:docMk/>
          <pc:sldMk cId="2546133353" sldId="288"/>
        </pc:sldMkLst>
        <pc:spChg chg="mod">
          <ac:chgData name="Hima Charan T" userId="b3fcd74edc5b4339" providerId="LiveId" clId="{F745F6E7-8CBB-4468-BEB3-746EBDC0882A}" dt="2025-03-02T17:07:32.530" v="620" actId="27636"/>
          <ac:spMkLst>
            <pc:docMk/>
            <pc:sldMk cId="2546133353" sldId="288"/>
            <ac:spMk id="3" creationId="{247324CE-23FF-0E45-2542-6C5B5615E215}"/>
          </ac:spMkLst>
        </pc:spChg>
      </pc:sldChg>
      <pc:sldChg chg="modSp add mod">
        <pc:chgData name="Hima Charan T" userId="b3fcd74edc5b4339" providerId="LiveId" clId="{F745F6E7-8CBB-4468-BEB3-746EBDC0882A}" dt="2025-03-02T16:56:36.013" v="582" actId="27636"/>
        <pc:sldMkLst>
          <pc:docMk/>
          <pc:sldMk cId="2338070155" sldId="289"/>
        </pc:sldMkLst>
        <pc:spChg chg="mod">
          <ac:chgData name="Hima Charan T" userId="b3fcd74edc5b4339" providerId="LiveId" clId="{F745F6E7-8CBB-4468-BEB3-746EBDC0882A}" dt="2025-03-02T16:56:36.013" v="582" actId="27636"/>
          <ac:spMkLst>
            <pc:docMk/>
            <pc:sldMk cId="2338070155" sldId="289"/>
            <ac:spMk id="3" creationId="{90CD54DA-82F0-EF6B-A76E-874C8485F3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3B78-BF77-8CE7-7C4D-642261B4E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FA077-6848-3FA0-099D-11CA7D613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7C3A0-DC9B-1A06-DDBB-D1515E4E2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4A79B-7037-0EBB-4E17-0B51EEC4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3EF7-FEC4-02F4-858B-5238B66E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72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2B27-F96B-018A-5CCC-F9DD0773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BA0A5-D8C9-47C2-E974-9E6C1DC66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3807-F998-EDAE-EB3E-062019E1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9880-0F6F-79B3-5D29-61D293F8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B11BF-5CB4-E4BE-9CED-724B6DEB9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05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9FE50-5F53-E61A-6A84-B4E3307F1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79F56-64A1-6763-EE4D-B2F1CBDAD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4AC9B-5215-B17B-7D2F-EB049B4F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91946-FCBA-1F62-6EFD-4729E511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7A922-EB82-7131-BC3B-98E5DC73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20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2095-0186-803E-EF78-38584D58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3BCD-B6D7-7EB8-FA59-AFAB8FBDD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97E79-B005-13D4-F674-42F4B4183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E4CC4-5ED1-F1ED-948F-94B7242EC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51084-9331-1492-4CCE-30801D27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D787-544B-3F34-B4A6-BE4465E6F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50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BF3E-A434-9CB5-7DFC-C0F56F7D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2F620-C2B2-AFD4-2022-2B4770706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E1035-68A3-0497-18B6-1D93872DB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78503-B633-FA63-62D1-D372A994D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A3BA8-684C-7235-D78C-DBBCACFC0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8893F-C52D-77C1-C01A-296D1200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91791-6485-1F6F-869B-474E7780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EAE7B-3BE9-1C69-1ABD-C691C39C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871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0136-CBF9-6298-ABAE-07BDE41E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37D7D3-C1C7-B483-A2C4-210B47FA0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4A0B2-CF2D-25F2-4274-5CAF9A07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B10CB-BBB3-D63F-C879-604D0FF5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24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A8D574-31D6-D27E-0BF5-FB4C6378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88E00-C0F9-73B7-BC3F-FE4F0757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7F00F-B723-AE19-0AAD-130668C7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99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3A17-50FB-A691-C4BD-53B61917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257E-14DA-8EBF-AF87-8AAC077D1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099D9-6DE5-2DDF-AD19-B9DCE2FF7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68A30-41EB-62B1-7121-E112598D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D3AE0-3438-CDA5-A61F-8403A857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39408-5234-2E26-D8CE-EE22A018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3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598D-DB13-9C2E-99D1-CB82846A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73EE4-B3AF-3565-D9F2-FB1027B3F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63818-2622-EAD1-6AC7-B906C0CA8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B597C-C27F-DD83-40BB-6BE9821E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EB5C1-AC6C-E50E-E117-B5EF66E2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D1C06-EDAD-79C3-3E03-06E1F19F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73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F88D-5A3D-D322-8F0E-A74BC2E6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623-D54F-CB86-8AC8-47798A598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FA5F0-F410-21DB-7AB3-9B75DD11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8F051-1C78-AF19-73B1-1FD14AEA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0C533-7924-ABC4-16D5-98F4A962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58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7B571-EFDA-051F-3E64-681F324B5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33A89-24CE-C0FF-5F93-FC4D4A4F5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C59DC-E855-47A2-78C9-854492B7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C7AE-7D32-FF02-C047-C3DDCCFB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12EEB-76EE-4EED-3C86-CF8D3D5F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64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198D5-C2B2-F7C2-01C5-A1324BF8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E632B-4194-9ED9-0514-7EF3CB15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8E348-196B-0133-B024-E6D89C2E2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76E42-A92F-449B-A5C5-7077D3390091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DB239-FEAF-2C62-494E-C6D5545EF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E28A8-F509-FD89-0A10-E94811626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94D8B-0B92-497F-987C-3EF345815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01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gauravduttakiit/resume-dataset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0229"/>
          </a:xfrm>
        </p:spPr>
        <p:txBody>
          <a:bodyPr>
            <a:normAutofit fontScale="90000"/>
          </a:bodyPr>
          <a:lstStyle/>
          <a:p>
            <a:r>
              <a:rPr lang="en-US" dirty="0"/>
              <a:t>AI-Based Resume Shortlisting System Using Fuzzy Logic </a:t>
            </a:r>
            <a:endParaRPr lang="en-IN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B2FFD62-D6B5-DB2A-B16E-2AAB584D56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	</a:t>
            </a:r>
          </a:p>
          <a:p>
            <a:r>
              <a:rPr lang="en-US" dirty="0"/>
              <a:t>K YASWANTNAGA SAI– 22MIS0213</a:t>
            </a:r>
          </a:p>
          <a:p>
            <a:r>
              <a:rPr lang="en-US" dirty="0"/>
              <a:t>P NIRANJAN – 22MIS0492</a:t>
            </a:r>
          </a:p>
          <a:p>
            <a:r>
              <a:rPr lang="en-US" dirty="0"/>
              <a:t>T HIMA CHARAN – 22MIS0544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946299" y="2661620"/>
            <a:ext cx="410644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/>
              <a:t>SWE1015 – </a:t>
            </a:r>
            <a:r>
              <a:rPr lang="en-IN" sz="2400" b="1" dirty="0" err="1"/>
              <a:t>M.Tech</a:t>
            </a:r>
            <a:r>
              <a:rPr lang="en-IN" sz="2400" b="1" dirty="0"/>
              <a:t>(SE) Project </a:t>
            </a:r>
          </a:p>
          <a:p>
            <a:pPr algn="ctr"/>
            <a:r>
              <a:rPr lang="en-IN" sz="2400" b="1" dirty="0"/>
              <a:t>Review 1</a:t>
            </a:r>
          </a:p>
        </p:txBody>
      </p:sp>
    </p:spTree>
    <p:extLst>
      <p:ext uri="{BB962C8B-B14F-4D97-AF65-F5344CB8AC3E}">
        <p14:creationId xmlns:p14="http://schemas.microsoft.com/office/powerpoint/2010/main" val="368649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29456"/>
              </p:ext>
            </p:extLst>
          </p:nvPr>
        </p:nvGraphicFramePr>
        <p:xfrm>
          <a:off x="-1502229" y="-561003"/>
          <a:ext cx="16221529" cy="82420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3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4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3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5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74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Authors &amp;Year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Methodology or Techniques used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Advantages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Issues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Metrics used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9637">
                <a:tc>
                  <a:txBody>
                    <a:bodyPr/>
                    <a:lstStyle/>
                    <a:p>
                      <a:r>
                        <a:rPr lang="en-IN" dirty="0"/>
                        <a:t>Sujit Kumar Chanda, Mohammad Shamsul </a:t>
                      </a:r>
                      <a:r>
                        <a:rPr lang="en-IN" dirty="0" err="1"/>
                        <a:t>Arefin</a:t>
                      </a:r>
                      <a:r>
                        <a:rPr lang="en-IN" dirty="0"/>
                        <a:t>, Rezaul Karim, Yasuhiko Morimoto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Combination of rough sets for dimension reduction and fuzzy c-means clustering for candidate 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Efficient handling of uncertainties; improved accuracy in candidate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Requires precise definition of fuzzy membership functions; computational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Accuracy, Time Complexity</a:t>
                      </a:r>
                      <a:endParaRPr lang="en-IN" sz="18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0163">
                <a:tc>
                  <a:txBody>
                    <a:bodyPr/>
                    <a:lstStyle/>
                    <a:p>
                      <a:r>
                        <a:rPr lang="en-IN" sz="2000" b="0" dirty="0"/>
                        <a:t>Waseem M. </a:t>
                      </a:r>
                      <a:r>
                        <a:rPr lang="en-IN" sz="2000" b="0" dirty="0" err="1"/>
                        <a:t>Alhasan</a:t>
                      </a:r>
                      <a:r>
                        <a:rPr lang="en-IN" sz="2000" b="0" dirty="0"/>
                        <a:t>, Majid J. Ali, </a:t>
                      </a:r>
                      <a:r>
                        <a:rPr lang="en-IN" sz="2000" b="0" dirty="0" err="1"/>
                        <a:t>Weaam</a:t>
                      </a:r>
                      <a:r>
                        <a:rPr lang="en-IN" sz="2000" b="0" dirty="0"/>
                        <a:t> Y. Abo </a:t>
                      </a:r>
                      <a:r>
                        <a:rPr lang="en-IN" sz="2000" b="0" dirty="0" err="1"/>
                        <a:t>Shdeed</a:t>
                      </a:r>
                      <a:r>
                        <a:rPr lang="en-IN" sz="2000" b="0" dirty="0"/>
                        <a:t>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Fuzzy logic-based recruitment system considering factors like education, experience, technical abilities, and interpersonal skills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/>
                        <a:t>Provides nuanced and informed decision-making in HR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/>
                        <a:t>Implementation complexity and need for precise input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Candidate suitability score, decision-making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0899">
                <a:tc>
                  <a:txBody>
                    <a:bodyPr/>
                    <a:lstStyle/>
                    <a:p>
                      <a:r>
                        <a:rPr lang="en-IN" b="1" dirty="0"/>
                        <a:t>Yousuf </a:t>
                      </a:r>
                      <a:r>
                        <a:rPr lang="en-IN" b="1" dirty="0" err="1"/>
                        <a:t>Amre</a:t>
                      </a:r>
                      <a:r>
                        <a:rPr lang="en-IN" b="1" dirty="0"/>
                        <a:t>, Mustafa </a:t>
                      </a:r>
                      <a:r>
                        <a:rPr lang="en-IN" b="1" dirty="0" err="1"/>
                        <a:t>Ahmedabadwala</a:t>
                      </a:r>
                      <a:r>
                        <a:rPr lang="en-IN" b="1" dirty="0"/>
                        <a:t>, Harsh Damania (2018)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Hybrid neuro-fuzzy system for resume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Automates candidate shortlisting, reduces HR effort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Requires accurate definition of fuzzy rules and training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Processing time, Matching Precision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089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 Amelia Zafra(2023)</a:t>
                      </a: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General overview of fuzzy in ai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/>
                        <a:t>Provides understanding of fuzzy logic applications.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/>
                        <a:t>General overview lacks specific details.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/>
                        <a:t>Accuracy,Precision.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8829"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Gumpy</a:t>
                      </a:r>
                      <a:r>
                        <a:rPr lang="en-US" sz="2000" b="0" dirty="0"/>
                        <a:t> j  (2018)</a:t>
                      </a:r>
                      <a:endParaRPr lang="en-IN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Use of fuzzy logic and Simple Additive Weighting (SAW) method for personnel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/>
                        <a:t>Enhances decision-making by handling imprecision in candidate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Potential complexity in defining fuzzy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Precision, processing time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59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964731"/>
              </p:ext>
            </p:extLst>
          </p:nvPr>
        </p:nvGraphicFramePr>
        <p:xfrm>
          <a:off x="-2133600" y="-3905250"/>
          <a:ext cx="18084800" cy="13747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3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4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Authors &amp;Year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Methodology or Techniques used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Advantages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Issues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Metrics used</a:t>
                      </a:r>
                      <a:endParaRPr lang="en-IN" sz="24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792">
                <a:tc>
                  <a:txBody>
                    <a:bodyPr/>
                    <a:lstStyle/>
                    <a:p>
                      <a:r>
                        <a:rPr lang="en-IN" sz="2000" b="0" dirty="0"/>
                        <a:t>Caryl Charlene Escolar-Jimenez, et al., Not specified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/>
                        <a:t>Modified shortlisting algorithm using fuzzy logic to quantify educational background, skills, and 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/>
                        <a:t>Adds flexibility for HR managers in candidate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/>
                        <a:t>Requires accurate input data and definition of fuzzy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Candidate Suitability Score</a:t>
                      </a:r>
                    </a:p>
                    <a:p>
                      <a:r>
                        <a:rPr lang="en-US" sz="2000" b="0" dirty="0"/>
                        <a:t>Processing Time​</a:t>
                      </a:r>
                    </a:p>
                    <a:p>
                      <a:r>
                        <a:rPr lang="en-US" sz="2000" b="0" dirty="0"/>
                        <a:t>Accuracy of Recommendations</a:t>
                      </a: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44">
                <a:tc>
                  <a:txBody>
                    <a:bodyPr/>
                    <a:lstStyle/>
                    <a:p>
                      <a:r>
                        <a:rPr lang="en-IN" dirty="0"/>
                        <a:t>Murat </a:t>
                      </a:r>
                      <a:r>
                        <a:rPr lang="en-IN" dirty="0" err="1"/>
                        <a:t>Bolelli</a:t>
                      </a:r>
                      <a:r>
                        <a:rPr lang="en-IN" dirty="0"/>
                        <a:t>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Fuzzy VIKOR method for candidate prescreening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Enhances decision-making by handling uncertainties; provides a structured evaluation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specialized expertise; dependent on data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Processing Time​</a:t>
                      </a:r>
                    </a:p>
                    <a:p>
                      <a:r>
                        <a:rPr lang="en-US" sz="1800" b="0" dirty="0"/>
                        <a:t>Accuracy of Recommendations</a:t>
                      </a:r>
                      <a:endParaRPr lang="en-IN" sz="18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70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Mohaseen Shaikh(2023)</a:t>
                      </a: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The system is based on the Mamdani Fuzzy Inference System (FIS) for candidate selection.</a:t>
                      </a:r>
                    </a:p>
                    <a:p>
                      <a:r>
                        <a:rPr lang="en-US" sz="2000" b="0" dirty="0"/>
                        <a:t>Decision Support System (DSS)</a:t>
                      </a:r>
                    </a:p>
                    <a:p>
                      <a:r>
                        <a:rPr lang="en-US" sz="2000" b="0" dirty="0"/>
                        <a:t>Intelligent DSS designed to streamline the recruitment process by automating candidate-job matching.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Efficiency and Speed</a:t>
                      </a:r>
                    </a:p>
                    <a:p>
                      <a:r>
                        <a:rPr lang="en-US" sz="2000" b="0" dirty="0"/>
                        <a:t>Improved Accuracy</a:t>
                      </a:r>
                    </a:p>
                    <a:p>
                      <a:r>
                        <a:rPr lang="en-US" sz="2000" b="0" dirty="0"/>
                        <a:t>Adaptability</a:t>
                      </a:r>
                    </a:p>
                    <a:p>
                      <a:r>
                        <a:rPr lang="en-US" sz="2000" b="0" dirty="0"/>
                        <a:t>Consistency</a:t>
                      </a:r>
                    </a:p>
                    <a:p>
                      <a:r>
                        <a:rPr lang="en-US" sz="2000" b="0" dirty="0"/>
                        <a:t>Expert Knowledge </a:t>
                      </a:r>
                    </a:p>
                    <a:p>
                      <a:r>
                        <a:rPr lang="en-US" sz="2000" b="0" dirty="0"/>
                        <a:t>Integration</a:t>
                      </a:r>
                    </a:p>
                    <a:p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Complexity in Rule Definition</a:t>
                      </a:r>
                    </a:p>
                    <a:p>
                      <a:r>
                        <a:rPr lang="en-US" sz="2000" b="0" dirty="0"/>
                        <a:t>Scalability Concerns</a:t>
                      </a:r>
                    </a:p>
                    <a:p>
                      <a:r>
                        <a:rPr lang="en-US" sz="2000" b="0" dirty="0"/>
                        <a:t>Subjectivity in Linguistic Variables</a:t>
                      </a:r>
                    </a:p>
                    <a:p>
                      <a:r>
                        <a:rPr lang="en-US" sz="2000" b="0" dirty="0"/>
                        <a:t>Computational Overhead</a:t>
                      </a: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Candidate Ranking Accuracy</a:t>
                      </a:r>
                    </a:p>
                    <a:p>
                      <a:r>
                        <a:rPr lang="en-US" sz="2000" b="0" dirty="0"/>
                        <a:t>Processing Time</a:t>
                      </a:r>
                    </a:p>
                    <a:p>
                      <a:r>
                        <a:rPr lang="en-US" sz="2000" b="0" dirty="0"/>
                        <a:t>System Efficiency</a:t>
                      </a:r>
                    </a:p>
                    <a:p>
                      <a:r>
                        <a:rPr lang="en-US" sz="2000" b="0" dirty="0"/>
                        <a:t>User Satisfaction</a:t>
                      </a:r>
                    </a:p>
                    <a:p>
                      <a:r>
                        <a:rPr lang="en-US" sz="2000" b="0" dirty="0"/>
                        <a:t>Hiring Success Rate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2240">
                <a:tc>
                  <a:txBody>
                    <a:bodyPr/>
                    <a:lstStyle/>
                    <a:p>
                      <a:r>
                        <a:rPr lang="en-IN" sz="2000" b="0" dirty="0" err="1"/>
                        <a:t>Zibs</a:t>
                      </a:r>
                      <a:r>
                        <a:rPr lang="en-IN" sz="2000" b="0" dirty="0"/>
                        <a:t>, Dowell </a:t>
                      </a:r>
                      <a:r>
                        <a:rPr lang="en-IN" sz="2000" b="0" dirty="0" err="1"/>
                        <a:t>Feremo</a:t>
                      </a:r>
                      <a:r>
                        <a:rPr lang="en-IN" sz="2000" b="0" dirty="0"/>
                        <a:t> </a:t>
                      </a:r>
                      <a:r>
                        <a:rPr lang="en-IN" sz="2000" b="0" dirty="0" err="1"/>
                        <a:t>Woripere</a:t>
                      </a:r>
                      <a:r>
                        <a:rPr lang="en-IN" sz="2000" b="0" dirty="0"/>
                        <a:t>; Ledisi, G. </a:t>
                      </a:r>
                      <a:r>
                        <a:rPr lang="en-IN" sz="2000" b="0" dirty="0" err="1"/>
                        <a:t>Kabari</a:t>
                      </a:r>
                      <a:r>
                        <a:rPr lang="en-IN" sz="2000" b="0" dirty="0"/>
                        <a:t>,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/>
                        <a:t>Development of an applicant recruitment system using fuzzy logic to rank suitable applicants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/>
                        <a:t>Enhances flexibility and reliability in personnel recruitment; assists HR managers in assessing and recruiting suitable applicants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Potential challenges in defining appropriate fuzzy rules; requires accurate input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Matching Percentage, Recall</a:t>
                      </a:r>
                    </a:p>
                    <a:p>
                      <a:endParaRPr lang="en-IN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48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Gabriel Babatunde Iwasokun(2022)</a:t>
                      </a: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Fuzzy Logic Component</a:t>
                      </a:r>
                    </a:p>
                    <a:p>
                      <a:r>
                        <a:rPr lang="en-US" sz="2000" b="0" dirty="0"/>
                        <a:t>Knowledge Base</a:t>
                      </a:r>
                    </a:p>
                    <a:p>
                      <a:r>
                        <a:rPr lang="en-US" sz="2000" b="0" dirty="0"/>
                        <a:t>Rule Base</a:t>
                      </a:r>
                    </a:p>
                    <a:p>
                      <a:r>
                        <a:rPr lang="en-US" sz="2000" b="0" dirty="0"/>
                        <a:t>Inference Engine</a:t>
                      </a:r>
                    </a:p>
                    <a:p>
                      <a:r>
                        <a:rPr lang="en-US" sz="2000" b="0" dirty="0"/>
                        <a:t>Fuzzification</a:t>
                      </a:r>
                    </a:p>
                    <a:p>
                      <a:r>
                        <a:rPr lang="en-US" sz="2000" b="0" dirty="0"/>
                        <a:t>Defuzzification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Enhanced Objectivity</a:t>
                      </a:r>
                    </a:p>
                    <a:p>
                      <a:r>
                        <a:rPr lang="en-US" sz="2000" b="0" dirty="0"/>
                        <a:t>Precision in Selection</a:t>
                      </a:r>
                    </a:p>
                    <a:p>
                      <a:r>
                        <a:rPr lang="en-US" sz="2000" b="0" dirty="0"/>
                        <a:t>Handling Multi-Variable Complexity</a:t>
                      </a: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Complexity in Rule Formulation Scalability Concerns</a:t>
                      </a:r>
                    </a:p>
                    <a:p>
                      <a:r>
                        <a:rPr lang="en-US" sz="2000" b="0" dirty="0"/>
                        <a:t>Data Quality Dependency</a:t>
                      </a: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Candidate Suitability Score</a:t>
                      </a:r>
                    </a:p>
                    <a:p>
                      <a:r>
                        <a:rPr lang="en-US" sz="2000" b="0" dirty="0"/>
                        <a:t>Processing Time​</a:t>
                      </a:r>
                    </a:p>
                    <a:p>
                      <a:r>
                        <a:rPr lang="en-US" sz="2000" b="0" dirty="0"/>
                        <a:t>Accuracy of Recommendations</a:t>
                      </a:r>
                      <a:endParaRPr lang="en-IN" sz="2000" b="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4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3445142"/>
              </p:ext>
            </p:extLst>
          </p:nvPr>
        </p:nvGraphicFramePr>
        <p:xfrm>
          <a:off x="0" y="16092"/>
          <a:ext cx="12191998" cy="73320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9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03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Authors &amp;Year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Methodology or Techniques used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Advantages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Issues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Metrics used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9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David Clark, </a:t>
                      </a:r>
                      <a:r>
                        <a:rPr lang="en-IN" sz="2000" dirty="0"/>
                        <a:t>2023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Fuzzy expert system for ranking job candidates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Transparent decision-making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Rule-base design can be subjective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Ranking Efficiency, Match Percentage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148">
                <a:tc>
                  <a:txBody>
                    <a:bodyPr/>
                    <a:lstStyle/>
                    <a:p>
                      <a:r>
                        <a:rPr lang="en-IN" dirty="0"/>
                        <a:t>Alice Johnson,</a:t>
                      </a:r>
                      <a:r>
                        <a:rPr lang="en-IN" b="1" dirty="0"/>
                        <a:t>2023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AI-powered fuzzy resume analyzer for automated hiring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Reduces bias in recruitment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Difficult to integrate with traditional 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Classification Accuracy, Processing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938">
                <a:tc>
                  <a:txBody>
                    <a:bodyPr/>
                    <a:lstStyle/>
                    <a:p>
                      <a:r>
                        <a:rPr lang="en-IN" dirty="0"/>
                        <a:t>J.O. Daramola, O.O. </a:t>
                      </a:r>
                      <a:r>
                        <a:rPr lang="en-IN" dirty="0" err="1"/>
                        <a:t>Oladipupo</a:t>
                      </a:r>
                      <a:r>
                        <a:rPr lang="en-IN" dirty="0"/>
                        <a:t>, A.G. Musa (2010)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Fuzzy expert system for online personnel recruitment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Enhances decision-making by handling uncertainties; provides a structured evaluation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specialized expertise; dependent on data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Matching Percentage,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5148">
                <a:tc>
                  <a:txBody>
                    <a:bodyPr/>
                    <a:lstStyle/>
                    <a:p>
                      <a:r>
                        <a:rPr lang="pt-BR" dirty="0"/>
                        <a:t>William Rodriguez, Olivia Garcia ,</a:t>
                      </a:r>
                      <a:r>
                        <a:rPr lang="en-IN" b="1" dirty="0"/>
                        <a:t>2023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Multi-criteria fuzzy decision-making for job applicants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Prioritizes multiple resume attributes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Requires expert knowledge for rule formulation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matching Accuracy, Execution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6336">
                <a:tc>
                  <a:txBody>
                    <a:bodyPr/>
                    <a:lstStyle/>
                    <a:p>
                      <a:r>
                        <a:rPr lang="en-IN" sz="1800" dirty="0"/>
                        <a:t>Jai Suryavanshi,</a:t>
                      </a:r>
                      <a:r>
                        <a:rPr lang="en-IN" b="1" dirty="0"/>
                        <a:t>2023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Soft computing approach integrating fuzzy inference for resume screening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Adaptable to dynamic hiring needs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Can be slow for large-scale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Processing time, Matching 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02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75871"/>
              </p:ext>
            </p:extLst>
          </p:nvPr>
        </p:nvGraphicFramePr>
        <p:xfrm>
          <a:off x="76201" y="32656"/>
          <a:ext cx="12039598" cy="73703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5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9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555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Authors &amp;Year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Methodology or Techniques used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Advantages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Issues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Metrics used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00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Caryl Charlene Escolar-Jimenez et al., 2019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Intelligent shortlisting using fuzzy logic for applicant profiling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Improved accuracy in candidate selection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Computational complexity in large datasets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Precision, processing time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/>
                        <a:t>Samaila</a:t>
                      </a:r>
                      <a:r>
                        <a:rPr lang="en-IN" sz="2000" dirty="0"/>
                        <a:t>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2023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AI-driven fuzzy ranking for resume matching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Handles imprecise data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Requires domain-specific fine-tuning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Accuracy, Processing Time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020">
                <a:tc>
                  <a:txBody>
                    <a:bodyPr/>
                    <a:lstStyle/>
                    <a:p>
                      <a:r>
                        <a:rPr lang="en-IN" dirty="0"/>
                        <a:t>Rohit Mishra, Shrikant Malviya, Rudra Chandra Ghosh, Uma Shanker Tiwary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Combined Fuzzy C-Means clustering with Interval Type-2 Fuzzy Sets for IT personnel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Enhanced accuracy in candidate selection; effective handling of uncertainties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precise definition of fuzzy membership functions; computational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Accuracy,</a:t>
                      </a:r>
                      <a:r>
                        <a:rPr lang="en-IN" sz="1800" dirty="0"/>
                        <a:t> Processing Time</a:t>
                      </a:r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40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Michael Lee</a:t>
                      </a:r>
                      <a:r>
                        <a:rPr lang="en-IN" sz="2000" dirty="0"/>
                        <a:t>, 2023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Hybrid AI and fuzzy rule-based classification for resumes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Flexible and adaptable system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Requires high computational resources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Precision, recall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367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 err="1"/>
                        <a:t>Einesh</a:t>
                      </a:r>
                      <a:r>
                        <a:rPr lang="en-IN" sz="2000" dirty="0"/>
                        <a:t> Naik, 2023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Resume filtering using fuzzy logic and deep learning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Combines AI efficiency with fuzzy adaptability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May struggle with non-standardized resumes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/>
                        <a:t>Accuracy, Time Complexity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004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7250603"/>
              </p:ext>
            </p:extLst>
          </p:nvPr>
        </p:nvGraphicFramePr>
        <p:xfrm>
          <a:off x="0" y="1"/>
          <a:ext cx="12191998" cy="76772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9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7852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Authors &amp;Year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Methodology or Techniques used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Advantages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Issues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Metrics used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r>
                        <a:rPr lang="en-IN" b="1" dirty="0"/>
                        <a:t>C. C. Escolar-Jimenez et al., 2019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Fuzzy logic-based profiling for intelligent shortlisting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Enhances accuracy in candidate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Computational complexity with large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Precision,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r>
                        <a:rPr lang="en-US" b="1" dirty="0"/>
                        <a:t>A. </a:t>
                      </a:r>
                      <a:r>
                        <a:rPr lang="en-US" b="1" dirty="0" err="1"/>
                        <a:t>Habous</a:t>
                      </a:r>
                      <a:r>
                        <a:rPr lang="en-US" b="1" dirty="0"/>
                        <a:t> and E. H. </a:t>
                      </a:r>
                      <a:r>
                        <a:rPr lang="en-US" b="1" dirty="0" err="1"/>
                        <a:t>Nfaoui</a:t>
                      </a:r>
                      <a:r>
                        <a:rPr lang="en-US" b="1" dirty="0"/>
                        <a:t>, 2021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Fuzzy logic and ontology-based approach for CV and job offer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Improves matching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Requires comprehensive ontology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Matching Accuracy, Processing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5744">
                <a:tc>
                  <a:txBody>
                    <a:bodyPr/>
                    <a:lstStyle/>
                    <a:p>
                      <a:r>
                        <a:rPr lang="en-IN" b="1" dirty="0"/>
                        <a:t>M. </a:t>
                      </a:r>
                      <a:r>
                        <a:rPr lang="en-IN" b="1" dirty="0" err="1"/>
                        <a:t>Kuppusamy</a:t>
                      </a:r>
                      <a:r>
                        <a:rPr lang="en-IN" b="1" dirty="0"/>
                        <a:t> et al., 2024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Integration of fuzzy logic with AI for personnel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Enhances decision-making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Complexity in rule formulation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Selection Accuracy, processing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r>
                        <a:rPr lang="en-US" b="1" dirty="0"/>
                        <a:t>J. Singh and P. Raman, 2022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Fuzzy inference system for automated resume screening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Reduces manual effort in screening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Potential biases in rule definitions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Matching Accuracy, Processing Time</a:t>
                      </a:r>
                    </a:p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3432">
                <a:tc>
                  <a:txBody>
                    <a:bodyPr/>
                    <a:lstStyle/>
                    <a:p>
                      <a:r>
                        <a:rPr lang="en-IN" b="1" dirty="0"/>
                        <a:t>Waseem M. </a:t>
                      </a:r>
                      <a:r>
                        <a:rPr lang="en-IN" b="1" dirty="0" err="1"/>
                        <a:t>Alhasan</a:t>
                      </a:r>
                      <a:r>
                        <a:rPr lang="en-IN" b="1" dirty="0"/>
                        <a:t>, Majid J. Ali, </a:t>
                      </a:r>
                      <a:r>
                        <a:rPr lang="en-IN" b="1" dirty="0" err="1"/>
                        <a:t>Weaam</a:t>
                      </a:r>
                      <a:r>
                        <a:rPr lang="en-IN" b="1" dirty="0"/>
                        <a:t> Y. Abo </a:t>
                      </a:r>
                      <a:r>
                        <a:rPr lang="en-IN" b="1" dirty="0" err="1"/>
                        <a:t>Shdeed</a:t>
                      </a:r>
                      <a:r>
                        <a:rPr lang="en-IN" b="1" dirty="0"/>
                        <a:t>, 2023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Fuzzy logic-based recruitment system considering factors like education, experience, technical abilities, and interpersonal skills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nuanced and informed decision-making in HR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Implementation complexity and need for precise input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Matching Percentage, Recall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77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273832"/>
              </p:ext>
            </p:extLst>
          </p:nvPr>
        </p:nvGraphicFramePr>
        <p:xfrm>
          <a:off x="0" y="0"/>
          <a:ext cx="12191998" cy="68580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5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1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723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Authors &amp;Year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Methodology or Techniques used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Advantages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Issues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Metrics used</a:t>
                      </a:r>
                      <a:endParaRPr lang="en-IN" sz="20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8644">
                <a:tc>
                  <a:txBody>
                    <a:bodyPr/>
                    <a:lstStyle/>
                    <a:p>
                      <a:r>
                        <a:rPr lang="en-US" b="1" dirty="0"/>
                        <a:t>S. Gupta and R. Kumar, 2023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AI and fuzzy logic integration for resume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Enhances evaluation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Challenges in handling unstructured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Processing time, Data Handling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8644">
                <a:tc>
                  <a:txBody>
                    <a:bodyPr/>
                    <a:lstStyle/>
                    <a:p>
                      <a:r>
                        <a:rPr lang="de-DE" b="1" dirty="0"/>
                        <a:t>L. Wang and Y. Zhang, 2021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Fuzzy logic-based ranking system for job applicants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Provides transparent ranking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Subjectivity in fuzzy rule definitions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time, matching score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8644">
                <a:tc>
                  <a:txBody>
                    <a:bodyPr/>
                    <a:lstStyle/>
                    <a:p>
                      <a:r>
                        <a:rPr lang="en-US" b="1" dirty="0"/>
                        <a:t>H. Chen and X. Liu, 2022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Hybrid AI and fuzzy logic model for resume shortlisting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Combines strengths of AI and fuzzy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Increased computational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Processing time,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418">
                <a:tc>
                  <a:txBody>
                    <a:bodyPr/>
                    <a:lstStyle/>
                    <a:p>
                      <a:r>
                        <a:rPr lang="en-US" b="1" dirty="0"/>
                        <a:t>P. Sharma and A. Verma, 2023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Fuzzy logic approach to automated candidate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Streamlines selection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Necessitates precise rule 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time, data handling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7418">
                <a:tc>
                  <a:txBody>
                    <a:bodyPr/>
                    <a:lstStyle/>
                    <a:p>
                      <a:r>
                        <a:rPr lang="en-US" b="1" dirty="0"/>
                        <a:t>M. Lee and E. Davis, 2021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AI-driven fuzzy logic system for talent acquisition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Enhances talent acquisition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Integration challenges with existing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Recall, matching accuracy</a:t>
                      </a:r>
                    </a:p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20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972000" y="415772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</a:rPr>
              <a:t>Issues in Existing Systems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Keyword-Based Filtering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: Ignores contextual relevance of skills and experience.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Inconsistent Evaluation Criteria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: Different HR personnel may interpret resumes differently.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dirty="0"/>
              <a:t>Limited Feedback Mechanism</a:t>
            </a:r>
            <a:r>
              <a:rPr lang="en-US" sz="2800" dirty="0"/>
              <a:t>: Many fuzzy logic systems lack a robust feedback mechanism to learn from past hiring decisions. This limits their ability to adapt and improve over time.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dirty="0"/>
              <a:t>Subjectivity in Input Variables</a:t>
            </a:r>
            <a:r>
              <a:rPr lang="en-US" sz="2800" dirty="0"/>
              <a:t>: The parameters used to evaluate resumes (e.g., skills, experience, education) may be defined subjectively. The lack of uniformity in defining these inputs can lead to biased outcomes.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773640" y="210960"/>
            <a:ext cx="9765000" cy="761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Motivation and Objective 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205200" y="973080"/>
            <a:ext cx="10515240" cy="4299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Motivation: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Existing methods lack robustness, and efficiency.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Fuzzy logic provides a way to handle uncertainty and vague data in resume evaluation.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Objective: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Develop an 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AI-based resume shortlisting system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using 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fuzzy logic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Ensure an 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interpretable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selection process.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Optimize HR decision-making with 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role-based candidate ranking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Provide an automated yet 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</a:rPr>
              <a:t>human-centric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approach to shortlisting.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762120" y="19800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Proposed title of project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646200" y="1706760"/>
            <a:ext cx="10326240" cy="20966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3600" b="1" strike="noStrike" spc="-1">
                <a:solidFill>
                  <a:srgbClr val="000000"/>
                </a:solidFill>
                <a:latin typeface="Calibri"/>
              </a:rPr>
              <a:t>AI-Based Resume Shortlisting System Using Fuzzy Logic 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Architecture of the proposed system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788760" y="180000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2"/>
          <a:stretch/>
        </p:blipFill>
        <p:spPr>
          <a:xfrm>
            <a:off x="788760" y="1846440"/>
            <a:ext cx="7871040" cy="4304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Modules and its Description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622419" y="1455717"/>
            <a:ext cx="11167560" cy="511488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7000" lnSpcReduction="2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1" strike="noStrike" spc="-1" dirty="0">
                <a:solidFill>
                  <a:srgbClr val="000000"/>
                </a:solidFill>
                <a:latin typeface="Calibri"/>
              </a:rPr>
              <a:t>Module 1: Resume Upload &amp; Extraction</a:t>
            </a:r>
            <a:endParaRPr lang="en-US" sz="29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0" strike="noStrike" spc="-1" dirty="0">
                <a:solidFill>
                  <a:srgbClr val="000000"/>
                </a:solidFill>
                <a:latin typeface="Calibri"/>
              </a:rPr>
              <a:t>Users upload resumes in supported formats.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0" strike="noStrike" spc="-1" dirty="0">
                <a:solidFill>
                  <a:srgbClr val="000000"/>
                </a:solidFill>
                <a:latin typeface="Calibri"/>
              </a:rPr>
              <a:t>Text extraction module retrieves essential details.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1" strike="noStrike" spc="-1" dirty="0">
                <a:solidFill>
                  <a:srgbClr val="000000"/>
                </a:solidFill>
                <a:latin typeface="Calibri"/>
              </a:rPr>
              <a:t>Module 2: Preprocessing &amp; Feature Extraction</a:t>
            </a:r>
            <a:endParaRPr lang="en-US" sz="29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0" strike="noStrike" spc="-1" dirty="0">
                <a:solidFill>
                  <a:srgbClr val="000000"/>
                </a:solidFill>
                <a:latin typeface="Calibri"/>
              </a:rPr>
              <a:t>Cleans data, removes irrelevant details.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0" strike="noStrike" spc="-1" dirty="0">
                <a:solidFill>
                  <a:srgbClr val="000000"/>
                </a:solidFill>
                <a:latin typeface="Calibri"/>
              </a:rPr>
              <a:t>Extracts key features such as skills, experience, education, and certifications.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1" strike="noStrike" spc="-1" dirty="0">
                <a:solidFill>
                  <a:srgbClr val="000000"/>
                </a:solidFill>
                <a:latin typeface="Calibri"/>
              </a:rPr>
              <a:t>Module 3: Fuzzy Logic-Based Evaluation</a:t>
            </a:r>
            <a:endParaRPr lang="en-US" sz="29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0" strike="noStrike" spc="-1" dirty="0">
                <a:solidFill>
                  <a:srgbClr val="000000"/>
                </a:solidFill>
                <a:latin typeface="Calibri"/>
              </a:rPr>
              <a:t>Converts numeric data into linguistic values.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0" strike="noStrike" spc="-1" dirty="0">
                <a:solidFill>
                  <a:srgbClr val="000000"/>
                </a:solidFill>
                <a:latin typeface="Calibri"/>
              </a:rPr>
              <a:t>Applies predefined fuzzy rules for ranking.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1" strike="noStrike" spc="-1" dirty="0">
                <a:solidFill>
                  <a:srgbClr val="000000"/>
                </a:solidFill>
                <a:latin typeface="Calibri"/>
              </a:rPr>
              <a:t>Module 4: Ranking &amp; Shortlisting</a:t>
            </a:r>
            <a:endParaRPr lang="en-US" sz="29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0" strike="noStrike" spc="-1" dirty="0">
                <a:solidFill>
                  <a:srgbClr val="000000"/>
                </a:solidFill>
                <a:latin typeface="Calibri"/>
              </a:rPr>
              <a:t>Generates suitability scores and ranks candidates accordingly.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0" b="0" strike="noStrike" spc="-1" dirty="0">
                <a:solidFill>
                  <a:srgbClr val="000000"/>
                </a:solidFill>
                <a:latin typeface="Calibri"/>
              </a:rPr>
              <a:t>Shortlists candidates based on threshold values.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Datasets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Open Resume Dataset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(Kaggle) - </a:t>
            </a:r>
            <a:r>
              <a:rPr lang="en-US" sz="2800" b="0" u="sng" strike="noStrike" spc="-1">
                <a:solidFill>
                  <a:srgbClr val="0563C1"/>
                </a:solidFill>
                <a:uFillTx/>
                <a:latin typeface="Calibri"/>
                <a:hlinkClick r:id="rId2"/>
              </a:rPr>
              <a:t>https://www.kaggle.com/datasets/gauravduttakiit/resume-dataset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Evaluation Metrics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Precision &amp; Recall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: Measures accuracy of shortlisted resumes.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Fuzzy Rule Interpretability Score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: Evaluates how well the rules align with human decisions.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Candidate Ranking Accuracy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: Compares fuzzy-based ranking with human evaluation.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HR Satisfaction Score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: Gathers feedback from recruiters on shortlisting effectiveness.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Processing Time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: Assesses system efficiency in handling large resume datasets.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1" y="1"/>
            <a:ext cx="9875520" cy="601883"/>
          </a:xfrm>
        </p:spPr>
        <p:txBody>
          <a:bodyPr>
            <a:normAutofit fontScale="90000"/>
          </a:bodyPr>
          <a:lstStyle/>
          <a:p>
            <a:r>
              <a:rPr lang="en-IN" dirty="0"/>
              <a:t>References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633B2-5B3A-7CB0-6C90-C0B86A4D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85422"/>
            <a:ext cx="12192000" cy="637257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514350" indent="-514350">
              <a:buAutoNum type="arabicPeriod"/>
            </a:pP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Samalia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Gumpy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&amp; Manga, I. (2018). Application of fuzzy logic for personnel selection.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Computer Applications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179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(15), 21-5. </a:t>
            </a:r>
          </a:p>
          <a:p>
            <a:pPr marL="514350" indent="-514350">
              <a:buAutoNum type="arabicPeriod"/>
            </a:pP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Alhasan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M., Ali, M. J.,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Shdeed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Y. A. Fuzzy Logic-based Recruitment System: An Innovative Solution for HR Departments.</a:t>
            </a: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Habous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Nfaoui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 H. (2021). A fuzzy logic and ontology-based approach for improving the CV and job offer matching in recruitment process.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Metadata, Semantics and Ontologies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15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104-120.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IN" dirty="0"/>
              <a:t>Zafra, A., &amp; Soto Hidalgo, J. M. (Eds.). (n.d.). </a:t>
            </a:r>
            <a:r>
              <a:rPr lang="en-IN" i="1" dirty="0"/>
              <a:t>Artificial Intelligence and Fuzzy Systems</a:t>
            </a:r>
            <a:r>
              <a:rPr lang="en-IN" dirty="0"/>
              <a:t>. MDPI. Retrieved March 3, 2025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Samalia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Gumpy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&amp; Manga, I. (2018). Application of fuzzy logic for personnel selection.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Computer Applications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179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(15), 21-5.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243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A1C4-D0E0-477D-70F6-62DB6D691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12191999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6.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Escolar-Jimenez, C. C., Matsuzaki, K., &amp; Gustilo, R. C. (2019). Intelligent shortlisting process for job applicants using fuzzy logic-based profiling.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Advanced Trends in Computer Science and Engineering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567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7.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Zibs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F. W., &amp; Ledisi, G. K. (2020). Applicant Recruitment System Using Fuzzy Logic.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Computer Science and Mobile Computing,(9)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1-7.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8.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Shaikh, M.,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Ghanawajeer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Sawane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(2023). Design and Development of an Intelligent Decision Support System for HR Recruitment.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Asian Journal of Computer Science and Technology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12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24-30.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9.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Zibs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F. W., &amp; Ledisi, G. K. (2020). Applicant Recruitment System Using Fuzzy Logic.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Computer Science and Mobile Computing,(9)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1-7.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10.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Iwasokun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G. B., Idowu, A. O., &amp;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Kuboye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B. M. (2022). Fuzzification Technique for Candidate Rating and Selection.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Decision Support System Technology (IJDSST)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14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1-23.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982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01A52-8A11-2C38-29C8-DB0DEF328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21" y="81023"/>
            <a:ext cx="11945073" cy="63776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11. 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Escolar-Jimenez, C. C., Matsuzaki, K., &amp; Gustilo, R. C. (2019). Intelligent shortlisting process for job applicants using fuzzy logic-based profiling.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Advanced Trends in Computer Science and Engineering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567. </a:t>
            </a:r>
          </a:p>
          <a:p>
            <a:endParaRPr lang="en-US" dirty="0"/>
          </a:p>
          <a:p>
            <a:r>
              <a:rPr lang="en-US" dirty="0"/>
              <a:t>12.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Medetova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K., &amp;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Sultanov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(2022, September). Applications of Fuzzy Logic in Recruitment Systems. In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2022 International Conference on Information Science and Communications Technologies (ICISCT)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1-4). IEEE. </a:t>
            </a:r>
          </a:p>
          <a:p>
            <a:endParaRPr lang="en-IN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dirty="0"/>
              <a:t>13.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Habous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Nfaoui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 H. (2021). A fuzzy logic and ontology-based approach for improving the CV and job offer matching in recruitment process.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Metadata, Semantics and Ontologies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15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104-120.</a:t>
            </a:r>
          </a:p>
          <a:p>
            <a:endParaRPr lang="en-US" dirty="0"/>
          </a:p>
          <a:p>
            <a:r>
              <a:rPr lang="en-US" dirty="0"/>
              <a:t>14.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Herold, M.,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Roedenbeck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(2024). Usage of AI in the Recruitment and Selection Process: A Systematic Review and Computational Analysis. </a:t>
            </a:r>
            <a:r>
              <a:rPr lang="en-US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Authorea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  <a:p>
            <a:r>
              <a:rPr lang="en-US" dirty="0"/>
              <a:t>15.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Bressane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Spalding, M.,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Zwirn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D., Loureiro, A. I. S., Bankole, A. O., Negri, R. G., ... &amp;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Moruzzi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 (2022). Fuzzy artificial intelligence—Based model proposal to forecast student performance and retention risk in engineering education: An alternative for handling with small data.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Sustainability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14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(21), 14071.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127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0BB4A-5F82-13E4-7F55-3D56A5157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62" y="242194"/>
            <a:ext cx="11261203" cy="60727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16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Kuppusamy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Singh, J., Raman, P., &amp;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Abdolrahimi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 (2024). Advanced decision analytics with fuzzy logic integrating AI and computational thinking for personnel selection.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Fuzzy Extension and Applications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679-699. </a:t>
            </a:r>
          </a:p>
          <a:p>
            <a:endParaRPr lang="en-IN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dirty="0"/>
              <a:t>17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Zibs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F. W., &amp; Ledisi, G. K. (2020). Applicant Recruitment System Using Fuzzy Logic.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Computer Science and Mobile Computing,(9)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1-7.</a:t>
            </a:r>
          </a:p>
          <a:p>
            <a:endParaRPr lang="en-US" dirty="0"/>
          </a:p>
          <a:p>
            <a:r>
              <a:rPr lang="en-US" dirty="0"/>
              <a:t>18. 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Jimenez, C. C. E., Matsuzaki, K., &amp; Gustilo, R. C. (2018). Fuzzy-based intelligent shortlisting process for human resource job recruitment procedures.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Engineering and Technology (UAE)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7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229. </a:t>
            </a:r>
          </a:p>
          <a:p>
            <a:endParaRPr lang="en-IN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dirty="0"/>
              <a:t>19.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Alhasan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M., Ali, M. J.,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Shdeed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Y. A. Fuzzy Logic-based Recruitment System: An Innovative Solution for HR Departments.</a:t>
            </a:r>
          </a:p>
          <a:p>
            <a:endParaRPr lang="en-US" dirty="0"/>
          </a:p>
          <a:p>
            <a:r>
              <a:rPr lang="en-US" dirty="0"/>
              <a:t>20.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Khandelwal, A., &amp; Kumar, A. (2019). A study on recruitment and selection process with reference to current scenario in organizations.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Malaya Journal of </a:t>
            </a:r>
            <a:r>
              <a:rPr lang="en-US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Matematik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(03), 412-418.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768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324CE-23FF-0E45-2542-6C5B5615E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47" y="92597"/>
            <a:ext cx="11574683" cy="6481824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21. 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Escolar-Jimenez, C. C., Matsuzaki, K., &amp; Gustilo, R. C. (2019). Intelligent shortlisting process for job applicants using fuzzy logic-based profiling.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Advanced Trends in Computer Science and Engineering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567.</a:t>
            </a:r>
          </a:p>
          <a:p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IN" dirty="0"/>
              <a:t>22.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Medetova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K., &amp;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Sultanov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(2022, September). Applications of Fuzzy Logic in Recruitment Systems. In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2022 International Conference on Information Science and Communications Technologies (ICISCT)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1-4). IEEE.</a:t>
            </a:r>
          </a:p>
          <a:p>
            <a:endParaRPr lang="en-IN" dirty="0"/>
          </a:p>
          <a:p>
            <a:r>
              <a:rPr lang="en-IN" dirty="0"/>
              <a:t>23.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Zibs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F. W., &amp; Ledisi, G. K. (2020). Applicant Recruitment System Using Fuzzy Logic.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Computer Science and Mobile Computing,(9)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1-7.</a:t>
            </a:r>
          </a:p>
          <a:p>
            <a:endParaRPr lang="en-IN" dirty="0"/>
          </a:p>
          <a:p>
            <a:r>
              <a:rPr lang="en-IN" dirty="0"/>
              <a:t>24.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Herold, M.,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Roedenbeck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 (2024). Usage of AI in the Recruitment and Selection Process: A Systematic Review and Computational Analysis. </a:t>
            </a:r>
            <a:r>
              <a:rPr lang="en-US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Authorea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IN" dirty="0"/>
              <a:t>25.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Alhasan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M., Ali, M. J.,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Shdeed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Y. A. </a:t>
            </a:r>
            <a:r>
              <a:rPr 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Fuzzy Logic-based Recruitment System: An Innovative Solution for HR Departments.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133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D54DA-82F0-EF6B-A76E-874C8485F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6" y="117232"/>
            <a:ext cx="11934093" cy="6635260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26.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Kuppusamy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Singh, J., Raman, P., &amp;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Abdolrahimi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 (2024). Advanced decision analytics with fuzzy logic integrating AI and computational thinking for personnel selection.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Fuzzy Extension and Applications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(4), 679-699.</a:t>
            </a:r>
          </a:p>
          <a:p>
            <a:endParaRPr lang="en-IN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IN" dirty="0"/>
              <a:t>27.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Habous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Nfaoui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 H. (2021). A fuzzy logic and ontology-based approach for improving the CV and job offer matching in recruitment process.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Metadata, Semantics and Ontologies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15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104-120.</a:t>
            </a:r>
          </a:p>
          <a:p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IN" dirty="0"/>
              <a:t>28.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Sridevi, G. M.,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Suganthi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 K. (2022). AI based suitability measurement and prediction between job description and job seeker profiles.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Information Management Data Insights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100109.</a:t>
            </a:r>
          </a:p>
          <a:p>
            <a:endParaRPr lang="en-IN" dirty="0"/>
          </a:p>
          <a:p>
            <a:r>
              <a:rPr lang="en-IN" dirty="0"/>
              <a:t>29.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Rojas-Galeano, S., Posada, J.,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Ordoñez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E. (2022). A Bibliometric Perspective on AI Research for Job‐Résumé Matching.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Scientific World Journal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2022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8002363.</a:t>
            </a:r>
          </a:p>
          <a:p>
            <a:endParaRPr lang="en-IN" dirty="0"/>
          </a:p>
          <a:p>
            <a:r>
              <a:rPr lang="en-IN" dirty="0"/>
              <a:t>30.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Jia, Y., &amp; Wang, Z. (2024). Application of artificial intelligence based on the fuzzy control algorithm in enterprise innovation. </a:t>
            </a:r>
            <a:r>
              <a:rPr lang="en-US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Heliyon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(6).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070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3202" y="3404539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8953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2456</TotalTime>
  <Words>2854</Words>
  <Application>Microsoft Office PowerPoint</Application>
  <PresentationFormat>Widescreen</PresentationFormat>
  <Paragraphs>310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Tahoma</vt:lpstr>
      <vt:lpstr>Office Theme</vt:lpstr>
      <vt:lpstr>AI-Based Resume Shortlisting System Using Fuzzy Logic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&lt;&lt;TITLE OF THE PROJECT&gt;&gt;</dc:title>
  <dc:creator>a.poojavlr@gmail.com</dc:creator>
  <cp:lastModifiedBy>Hima Charan T</cp:lastModifiedBy>
  <cp:revision>12</cp:revision>
  <dcterms:created xsi:type="dcterms:W3CDTF">2019-07-31T05:02:09Z</dcterms:created>
  <dcterms:modified xsi:type="dcterms:W3CDTF">2025-03-03T08:47:18Z</dcterms:modified>
</cp:coreProperties>
</file>